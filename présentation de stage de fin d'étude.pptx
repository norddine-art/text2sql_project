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3" r:id="rId6"/>
    <p:sldId id="260" r:id="rId7"/>
    <p:sldId id="276" r:id="rId8"/>
    <p:sldId id="261" r:id="rId9"/>
    <p:sldId id="274" r:id="rId10"/>
    <p:sldId id="275" r:id="rId11"/>
    <p:sldId id="262" r:id="rId12"/>
    <p:sldId id="263" r:id="rId13"/>
    <p:sldId id="266" r:id="rId14"/>
    <p:sldId id="272" r:id="rId15"/>
    <p:sldId id="271" r:id="rId16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60AA"/>
    <a:srgbClr val="55B6DD"/>
    <a:srgbClr val="FFFFFF"/>
    <a:srgbClr val="000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11675-81DC-43D2-971E-4FE41D78AE0A}" v="599" dt="2026-05-16T11:41:52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6" autoAdjust="0"/>
    <p:restoredTop sz="94660"/>
  </p:normalViewPr>
  <p:slideViewPr>
    <p:cSldViewPr>
      <p:cViewPr varScale="1">
        <p:scale>
          <a:sx n="86" d="100"/>
          <a:sy n="86" d="100"/>
        </p:scale>
        <p:origin x="13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6615F8-0CD6-4911-BA30-9E7A9C9504B1}" type="doc">
      <dgm:prSet loTypeId="urn:microsoft.com/office/officeart/2011/layout/RadialPictureList" loCatId="officeon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7C4E0BC-C8AB-4645-9D6A-7FA4702DBB64}">
      <dgm:prSet phldrT="[Text]" custT="1"/>
      <dgm:spPr/>
      <dgm:t>
        <a:bodyPr/>
        <a:lstStyle/>
        <a:p>
          <a:pPr>
            <a:buNone/>
          </a:pPr>
          <a:r>
            <a:rPr lang="fr-FR" sz="2400" b="1" i="0" dirty="0">
              <a:solidFill>
                <a:schemeClr val="tx2"/>
              </a:solidFill>
            </a:rPr>
            <a:t>Agrumes et primeurs</a:t>
          </a:r>
          <a:endParaRPr lang="fr-FR" sz="2400" b="1" dirty="0">
            <a:solidFill>
              <a:schemeClr val="tx2"/>
            </a:solidFill>
          </a:endParaRPr>
        </a:p>
      </dgm:t>
    </dgm:pt>
    <dgm:pt modelId="{F7B99F24-033F-4D7B-A6CB-BE203C87B850}" type="parTrans" cxnId="{9A778FFE-F50B-4C5E-AE88-7C4C97E67FFF}">
      <dgm:prSet/>
      <dgm:spPr/>
      <dgm:t>
        <a:bodyPr/>
        <a:lstStyle/>
        <a:p>
          <a:endParaRPr lang="fr-FR"/>
        </a:p>
      </dgm:t>
    </dgm:pt>
    <dgm:pt modelId="{05BE9CEB-32D6-4C3A-B3C5-C4B7C0B1F6EE}" type="sibTrans" cxnId="{9A778FFE-F50B-4C5E-AE88-7C4C97E67FFF}">
      <dgm:prSet/>
      <dgm:spPr/>
      <dgm:t>
        <a:bodyPr/>
        <a:lstStyle/>
        <a:p>
          <a:endParaRPr lang="fr-FR"/>
        </a:p>
      </dgm:t>
    </dgm:pt>
    <dgm:pt modelId="{55E2B822-24D7-4524-A9C5-FDF16BCED5CF}">
      <dgm:prSet phldrT="[Text]" custT="1"/>
      <dgm:spPr/>
      <dgm:t>
        <a:bodyPr/>
        <a:lstStyle/>
        <a:p>
          <a:pPr>
            <a:buNone/>
          </a:pPr>
          <a:r>
            <a:rPr lang="fr-FR" sz="2300" b="1" i="0" kern="1200" dirty="0">
              <a:solidFill>
                <a:schemeClr val="tx2"/>
              </a:solidFill>
              <a:latin typeface="Arial"/>
              <a:ea typeface="+mn-ea"/>
              <a:cs typeface="Arial"/>
            </a:rPr>
            <a:t>Produits</a:t>
          </a:r>
          <a:r>
            <a:rPr lang="fr-FR" sz="2300" b="0" i="0" kern="1200" dirty="0">
              <a:solidFill>
                <a:schemeClr val="tx2"/>
              </a:solidFill>
            </a:rPr>
            <a:t> </a:t>
          </a:r>
          <a:r>
            <a:rPr lang="fr-FR" sz="2300" b="1" i="0" kern="1200" dirty="0">
              <a:solidFill>
                <a:schemeClr val="tx2"/>
              </a:solidFill>
              <a:latin typeface="Arial"/>
              <a:ea typeface="+mn-ea"/>
              <a:cs typeface="Arial"/>
            </a:rPr>
            <a:t>laitiers</a:t>
          </a:r>
        </a:p>
        <a:p>
          <a:pPr>
            <a:buNone/>
          </a:pPr>
          <a:endParaRPr lang="fr-FR" sz="2300" kern="1200" dirty="0"/>
        </a:p>
      </dgm:t>
    </dgm:pt>
    <dgm:pt modelId="{35D4E6BF-910E-4316-B931-02BE2EA3E349}" type="parTrans" cxnId="{2926EBCE-D785-466D-87B9-1F216B484AC5}">
      <dgm:prSet/>
      <dgm:spPr/>
      <dgm:t>
        <a:bodyPr/>
        <a:lstStyle/>
        <a:p>
          <a:endParaRPr lang="fr-FR"/>
        </a:p>
      </dgm:t>
    </dgm:pt>
    <dgm:pt modelId="{02A2EBE9-51AE-4BEF-8A1C-668A09A943FF}" type="sibTrans" cxnId="{2926EBCE-D785-466D-87B9-1F216B484AC5}">
      <dgm:prSet/>
      <dgm:spPr/>
      <dgm:t>
        <a:bodyPr/>
        <a:lstStyle/>
        <a:p>
          <a:endParaRPr lang="fr-FR"/>
        </a:p>
      </dgm:t>
    </dgm:pt>
    <dgm:pt modelId="{842187FD-20FB-4FA3-B53A-162027A30DCA}">
      <dgm:prSet phldrT="[Text]" custT="1"/>
      <dgm:spPr/>
      <dgm:t>
        <a:bodyPr/>
        <a:lstStyle/>
        <a:p>
          <a:pPr>
            <a:buNone/>
          </a:pPr>
          <a:r>
            <a:rPr lang="fr-FR" sz="2400" b="1" i="0" dirty="0">
              <a:solidFill>
                <a:schemeClr val="tx2"/>
              </a:solidFill>
            </a:rPr>
            <a:t>Viandes bovines et ovines</a:t>
          </a:r>
          <a:endParaRPr lang="fr-FR" sz="2400" b="1" dirty="0">
            <a:solidFill>
              <a:schemeClr val="tx2"/>
            </a:solidFill>
          </a:endParaRPr>
        </a:p>
      </dgm:t>
    </dgm:pt>
    <dgm:pt modelId="{1487F51A-95EC-4AC0-83FB-51801E32C53F}" type="parTrans" cxnId="{68FF45E8-2CCA-43A2-B1BF-C0FB8501BB24}">
      <dgm:prSet/>
      <dgm:spPr/>
      <dgm:t>
        <a:bodyPr/>
        <a:lstStyle/>
        <a:p>
          <a:endParaRPr lang="fr-FR"/>
        </a:p>
      </dgm:t>
    </dgm:pt>
    <dgm:pt modelId="{129E0E1E-2E6C-4D0D-9A37-70C68AC708FB}" type="sibTrans" cxnId="{68FF45E8-2CCA-43A2-B1BF-C0FB8501BB24}">
      <dgm:prSet/>
      <dgm:spPr/>
      <dgm:t>
        <a:bodyPr/>
        <a:lstStyle/>
        <a:p>
          <a:endParaRPr lang="fr-FR"/>
        </a:p>
      </dgm:t>
    </dgm:pt>
    <dgm:pt modelId="{08B5ABB4-B548-4E7E-BB18-3DDBE2AA1245}">
      <dgm:prSet phldrT="[Text]" phldr="0" custT="1"/>
      <dgm:spPr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r>
            <a:rPr lang="fr-FR" sz="300" dirty="0"/>
            <a:t>a</a:t>
          </a:r>
        </a:p>
      </dgm:t>
    </dgm:pt>
    <dgm:pt modelId="{96A20694-B5EE-42B2-85F6-782B7AA64CED}" type="sibTrans" cxnId="{1F9526D4-FA98-4819-9CBC-89A8B254A84E}">
      <dgm:prSet/>
      <dgm:spPr/>
      <dgm:t>
        <a:bodyPr/>
        <a:lstStyle/>
        <a:p>
          <a:endParaRPr lang="fr-FR"/>
        </a:p>
      </dgm:t>
    </dgm:pt>
    <dgm:pt modelId="{1674C57E-7981-4114-975E-52CED973E23F}" type="parTrans" cxnId="{1F9526D4-FA98-4819-9CBC-89A8B254A84E}">
      <dgm:prSet/>
      <dgm:spPr/>
      <dgm:t>
        <a:bodyPr/>
        <a:lstStyle/>
        <a:p>
          <a:endParaRPr lang="fr-FR"/>
        </a:p>
      </dgm:t>
    </dgm:pt>
    <dgm:pt modelId="{262F7CF5-ABD3-45E9-9396-178725581CFD}" type="pres">
      <dgm:prSet presAssocID="{636615F8-0CD6-4911-BA30-9E7A9C9504B1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A3F47971-9E75-46F1-8226-F79D6D80B0BC}" type="pres">
      <dgm:prSet presAssocID="{08B5ABB4-B548-4E7E-BB18-3DDBE2AA1245}" presName="Parent" presStyleLbl="node1" presStyleIdx="0" presStyleCnt="2" custLinFactNeighborX="-15430" custLinFactNeighborY="-536">
        <dgm:presLayoutVars>
          <dgm:chMax val="4"/>
          <dgm:chPref val="3"/>
        </dgm:presLayoutVars>
      </dgm:prSet>
      <dgm:spPr/>
    </dgm:pt>
    <dgm:pt modelId="{DAA67E3A-E6A3-4700-AEEA-754D75A91AAC}" type="pres">
      <dgm:prSet presAssocID="{47C4E0BC-C8AB-4645-9D6A-7FA4702DBB64}" presName="Accent" presStyleLbl="node1" presStyleIdx="1" presStyleCnt="2"/>
      <dgm:spPr>
        <a:solidFill>
          <a:srgbClr val="1060AA"/>
        </a:solidFill>
      </dgm:spPr>
    </dgm:pt>
    <dgm:pt modelId="{41296482-3067-468D-A519-DF4D88C7489A}" type="pres">
      <dgm:prSet presAssocID="{47C4E0BC-C8AB-4645-9D6A-7FA4702DBB64}" presName="Image1" presStyleLbl="fgImgPlace1" presStyleIdx="0" presStyleCnt="3" custLinFactX="300000" custLinFactNeighborX="304472" custLinFactNeighborY="-17990"/>
      <dgm:spPr/>
    </dgm:pt>
    <dgm:pt modelId="{E1E6A415-2686-4CB6-A845-B187AD2F906D}" type="pres">
      <dgm:prSet presAssocID="{47C4E0BC-C8AB-4645-9D6A-7FA4702DBB64}" presName="Child1" presStyleLbl="revTx" presStyleIdx="0" presStyleCnt="3" custScaleX="325786" custLinFactX="21653" custLinFactNeighborX="100000" custLinFactNeighborY="-12084">
        <dgm:presLayoutVars>
          <dgm:chMax val="0"/>
          <dgm:chPref val="0"/>
          <dgm:bulletEnabled val="1"/>
        </dgm:presLayoutVars>
      </dgm:prSet>
      <dgm:spPr/>
    </dgm:pt>
    <dgm:pt modelId="{35893622-382E-4193-BC23-280B974BC616}" type="pres">
      <dgm:prSet presAssocID="{55E2B822-24D7-4524-A9C5-FDF16BCED5CF}" presName="Image2" presStyleCnt="0"/>
      <dgm:spPr/>
    </dgm:pt>
    <dgm:pt modelId="{555264C4-7EFC-4B8F-B199-FE0B5B995971}" type="pres">
      <dgm:prSet presAssocID="{55E2B822-24D7-4524-A9C5-FDF16BCED5CF}" presName="Image" presStyleLbl="fgImgPlace1" presStyleIdx="1" presStyleCnt="3" custLinFactX="286672" custLinFactNeighborX="300000" custLinFactNeighborY="-13632"/>
      <dgm:spPr/>
    </dgm:pt>
    <dgm:pt modelId="{6EE931D7-F988-4D69-9EB9-5A0AADC6882F}" type="pres">
      <dgm:prSet presAssocID="{55E2B822-24D7-4524-A9C5-FDF16BCED5CF}" presName="Child2" presStyleLbl="revTx" presStyleIdx="1" presStyleCnt="3" custScaleX="294630" custLinFactX="15895" custLinFactNeighborX="100000" custLinFactNeighborY="16039">
        <dgm:presLayoutVars>
          <dgm:chMax val="0"/>
          <dgm:chPref val="0"/>
          <dgm:bulletEnabled val="1"/>
        </dgm:presLayoutVars>
      </dgm:prSet>
      <dgm:spPr/>
    </dgm:pt>
    <dgm:pt modelId="{0EB6D6FF-4BFC-46B6-804B-3761E016B555}" type="pres">
      <dgm:prSet presAssocID="{842187FD-20FB-4FA3-B53A-162027A30DCA}" presName="Image3" presStyleCnt="0"/>
      <dgm:spPr/>
    </dgm:pt>
    <dgm:pt modelId="{AA000314-46E7-4391-9C6A-3E47AB6EBC56}" type="pres">
      <dgm:prSet presAssocID="{842187FD-20FB-4FA3-B53A-162027A30DCA}" presName="Image" presStyleLbl="fgImgPlace1" presStyleIdx="2" presStyleCnt="3" custLinFactX="300000" custLinFactNeighborX="325323" custLinFactNeighborY="-5769"/>
      <dgm:spPr/>
    </dgm:pt>
    <dgm:pt modelId="{475E23FD-8C49-4BE2-BA0B-EAF3BC659C03}" type="pres">
      <dgm:prSet presAssocID="{842187FD-20FB-4FA3-B53A-162027A30DCA}" presName="Child3" presStyleLbl="revTx" presStyleIdx="2" presStyleCnt="3" custScaleX="411032" custLinFactX="77050" custLinFactNeighborX="100000" custLinFactNeighborY="-201">
        <dgm:presLayoutVars>
          <dgm:chMax val="0"/>
          <dgm:chPref val="0"/>
          <dgm:bulletEnabled val="1"/>
        </dgm:presLayoutVars>
      </dgm:prSet>
      <dgm:spPr/>
    </dgm:pt>
  </dgm:ptLst>
  <dgm:cxnLst>
    <dgm:cxn modelId="{FBE99700-2B0A-4601-854F-5D3F89B9E023}" type="presOf" srcId="{842187FD-20FB-4FA3-B53A-162027A30DCA}" destId="{475E23FD-8C49-4BE2-BA0B-EAF3BC659C03}" srcOrd="0" destOrd="0" presId="urn:microsoft.com/office/officeart/2011/layout/RadialPictureList"/>
    <dgm:cxn modelId="{61626F06-1BD1-41E0-BE91-9F9740C48A74}" type="presOf" srcId="{55E2B822-24D7-4524-A9C5-FDF16BCED5CF}" destId="{6EE931D7-F988-4D69-9EB9-5A0AADC6882F}" srcOrd="0" destOrd="0" presId="urn:microsoft.com/office/officeart/2011/layout/RadialPictureList"/>
    <dgm:cxn modelId="{1D07AE23-0FAF-4251-A3B0-E7ECB76D2EED}" type="presOf" srcId="{08B5ABB4-B548-4E7E-BB18-3DDBE2AA1245}" destId="{A3F47971-9E75-46F1-8226-F79D6D80B0BC}" srcOrd="0" destOrd="0" presId="urn:microsoft.com/office/officeart/2011/layout/RadialPictureList"/>
    <dgm:cxn modelId="{486DAF2E-8C32-44AF-A769-8155F68925EF}" type="presOf" srcId="{47C4E0BC-C8AB-4645-9D6A-7FA4702DBB64}" destId="{E1E6A415-2686-4CB6-A845-B187AD2F906D}" srcOrd="0" destOrd="0" presId="urn:microsoft.com/office/officeart/2011/layout/RadialPictureList"/>
    <dgm:cxn modelId="{9DA192BA-9334-4F8B-9E2B-41F6DA80E61A}" type="presOf" srcId="{636615F8-0CD6-4911-BA30-9E7A9C9504B1}" destId="{262F7CF5-ABD3-45E9-9396-178725581CFD}" srcOrd="0" destOrd="0" presId="urn:microsoft.com/office/officeart/2011/layout/RadialPictureList"/>
    <dgm:cxn modelId="{2926EBCE-D785-466D-87B9-1F216B484AC5}" srcId="{08B5ABB4-B548-4E7E-BB18-3DDBE2AA1245}" destId="{55E2B822-24D7-4524-A9C5-FDF16BCED5CF}" srcOrd="1" destOrd="0" parTransId="{35D4E6BF-910E-4316-B931-02BE2EA3E349}" sibTransId="{02A2EBE9-51AE-4BEF-8A1C-668A09A943FF}"/>
    <dgm:cxn modelId="{1F9526D4-FA98-4819-9CBC-89A8B254A84E}" srcId="{636615F8-0CD6-4911-BA30-9E7A9C9504B1}" destId="{08B5ABB4-B548-4E7E-BB18-3DDBE2AA1245}" srcOrd="0" destOrd="0" parTransId="{1674C57E-7981-4114-975E-52CED973E23F}" sibTransId="{96A20694-B5EE-42B2-85F6-782B7AA64CED}"/>
    <dgm:cxn modelId="{68FF45E8-2CCA-43A2-B1BF-C0FB8501BB24}" srcId="{08B5ABB4-B548-4E7E-BB18-3DDBE2AA1245}" destId="{842187FD-20FB-4FA3-B53A-162027A30DCA}" srcOrd="2" destOrd="0" parTransId="{1487F51A-95EC-4AC0-83FB-51801E32C53F}" sibTransId="{129E0E1E-2E6C-4D0D-9A37-70C68AC708FB}"/>
    <dgm:cxn modelId="{9A778FFE-F50B-4C5E-AE88-7C4C97E67FFF}" srcId="{08B5ABB4-B548-4E7E-BB18-3DDBE2AA1245}" destId="{47C4E0BC-C8AB-4645-9D6A-7FA4702DBB64}" srcOrd="0" destOrd="0" parTransId="{F7B99F24-033F-4D7B-A6CB-BE203C87B850}" sibTransId="{05BE9CEB-32D6-4C3A-B3C5-C4B7C0B1F6EE}"/>
    <dgm:cxn modelId="{78DA800D-DBBE-4DF2-8A17-246DED12B472}" type="presParOf" srcId="{262F7CF5-ABD3-45E9-9396-178725581CFD}" destId="{A3F47971-9E75-46F1-8226-F79D6D80B0BC}" srcOrd="0" destOrd="0" presId="urn:microsoft.com/office/officeart/2011/layout/RadialPictureList"/>
    <dgm:cxn modelId="{7786D505-A4C1-40CD-AFB6-3107C2982466}" type="presParOf" srcId="{262F7CF5-ABD3-45E9-9396-178725581CFD}" destId="{DAA67E3A-E6A3-4700-AEEA-754D75A91AAC}" srcOrd="1" destOrd="0" presId="urn:microsoft.com/office/officeart/2011/layout/RadialPictureList"/>
    <dgm:cxn modelId="{0868F226-8871-4601-BDB1-58A02E6C9379}" type="presParOf" srcId="{262F7CF5-ABD3-45E9-9396-178725581CFD}" destId="{41296482-3067-468D-A519-DF4D88C7489A}" srcOrd="2" destOrd="0" presId="urn:microsoft.com/office/officeart/2011/layout/RadialPictureList"/>
    <dgm:cxn modelId="{2582775E-ABBC-4F21-8FAA-210E7B47035A}" type="presParOf" srcId="{262F7CF5-ABD3-45E9-9396-178725581CFD}" destId="{E1E6A415-2686-4CB6-A845-B187AD2F906D}" srcOrd="3" destOrd="0" presId="urn:microsoft.com/office/officeart/2011/layout/RadialPictureList"/>
    <dgm:cxn modelId="{F81830EB-3CF5-4AA4-8F6E-315D53BF2693}" type="presParOf" srcId="{262F7CF5-ABD3-45E9-9396-178725581CFD}" destId="{35893622-382E-4193-BC23-280B974BC616}" srcOrd="4" destOrd="0" presId="urn:microsoft.com/office/officeart/2011/layout/RadialPictureList"/>
    <dgm:cxn modelId="{FE2FA8CC-14F2-41E2-BC2C-AA33C9E9F5B7}" type="presParOf" srcId="{35893622-382E-4193-BC23-280B974BC616}" destId="{555264C4-7EFC-4B8F-B199-FE0B5B995971}" srcOrd="0" destOrd="0" presId="urn:microsoft.com/office/officeart/2011/layout/RadialPictureList"/>
    <dgm:cxn modelId="{86D49ED7-494E-4A1A-861C-44C76783B1F4}" type="presParOf" srcId="{262F7CF5-ABD3-45E9-9396-178725581CFD}" destId="{6EE931D7-F988-4D69-9EB9-5A0AADC6882F}" srcOrd="5" destOrd="0" presId="urn:microsoft.com/office/officeart/2011/layout/RadialPictureList"/>
    <dgm:cxn modelId="{802393CA-AC68-4D2E-B58C-3C9FB7EA32EC}" type="presParOf" srcId="{262F7CF5-ABD3-45E9-9396-178725581CFD}" destId="{0EB6D6FF-4BFC-46B6-804B-3761E016B555}" srcOrd="6" destOrd="0" presId="urn:microsoft.com/office/officeart/2011/layout/RadialPictureList"/>
    <dgm:cxn modelId="{523AA145-32C4-473C-97D0-3544F07B89A7}" type="presParOf" srcId="{0EB6D6FF-4BFC-46B6-804B-3761E016B555}" destId="{AA000314-46E7-4391-9C6A-3E47AB6EBC56}" srcOrd="0" destOrd="0" presId="urn:microsoft.com/office/officeart/2011/layout/RadialPictureList"/>
    <dgm:cxn modelId="{679E1496-41DC-4F19-A29D-AF8D0C9A3B84}" type="presParOf" srcId="{262F7CF5-ABD3-45E9-9396-178725581CFD}" destId="{475E23FD-8C49-4BE2-BA0B-EAF3BC659C0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F47971-9E75-46F1-8226-F79D6D80B0BC}">
      <dsp:nvSpPr>
        <dsp:cNvPr id="0" name=""/>
        <dsp:cNvSpPr/>
      </dsp:nvSpPr>
      <dsp:spPr>
        <a:xfrm>
          <a:off x="3853965" y="1205588"/>
          <a:ext cx="2189326" cy="2189434"/>
        </a:xfrm>
        <a:prstGeom prst="ellipse">
          <a:avLst/>
        </a:prstGeom>
        <a:blipFill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" kern="1200" dirty="0"/>
            <a:t>a</a:t>
          </a:r>
        </a:p>
      </dsp:txBody>
      <dsp:txXfrm>
        <a:off x="4174584" y="1526223"/>
        <a:ext cx="1548088" cy="1548164"/>
      </dsp:txXfrm>
    </dsp:sp>
    <dsp:sp modelId="{DAA67E3A-E6A3-4700-AEEA-754D75A91AAC}">
      <dsp:nvSpPr>
        <dsp:cNvPr id="0" name=""/>
        <dsp:cNvSpPr/>
      </dsp:nvSpPr>
      <dsp:spPr>
        <a:xfrm>
          <a:off x="3062774" y="0"/>
          <a:ext cx="4413320" cy="4600619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rgbClr val="1060A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296482-3067-468D-A519-DF4D88C7489A}">
      <dsp:nvSpPr>
        <dsp:cNvPr id="0" name=""/>
        <dsp:cNvSpPr/>
      </dsp:nvSpPr>
      <dsp:spPr>
        <a:xfrm>
          <a:off x="13401851" y="176781"/>
          <a:ext cx="1172830" cy="11731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E6A415-2686-4CB6-A845-B187AD2F906D}">
      <dsp:nvSpPr>
        <dsp:cNvPr id="0" name=""/>
        <dsp:cNvSpPr/>
      </dsp:nvSpPr>
      <dsp:spPr>
        <a:xfrm>
          <a:off x="7711734" y="269489"/>
          <a:ext cx="5114444" cy="1135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2400" b="1" i="0" kern="1200" dirty="0">
              <a:solidFill>
                <a:schemeClr val="tx2"/>
              </a:solidFill>
            </a:rPr>
            <a:t>Agrumes et primeurs</a:t>
          </a:r>
          <a:endParaRPr lang="fr-FR" sz="2400" b="1" kern="1200" dirty="0">
            <a:solidFill>
              <a:schemeClr val="tx2"/>
            </a:solidFill>
          </a:endParaRPr>
        </a:p>
      </dsp:txBody>
      <dsp:txXfrm>
        <a:off x="7711734" y="269489"/>
        <a:ext cx="5114444" cy="1135432"/>
      </dsp:txXfrm>
    </dsp:sp>
    <dsp:sp modelId="{555264C4-7EFC-4B8F-B199-FE0B5B995971}">
      <dsp:nvSpPr>
        <dsp:cNvPr id="0" name=""/>
        <dsp:cNvSpPr/>
      </dsp:nvSpPr>
      <dsp:spPr>
        <a:xfrm>
          <a:off x="13475447" y="1562546"/>
          <a:ext cx="1172830" cy="11731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931D7-F988-4D69-9EB9-5A0AADC6882F}">
      <dsp:nvSpPr>
        <dsp:cNvPr id="0" name=""/>
        <dsp:cNvSpPr/>
      </dsp:nvSpPr>
      <dsp:spPr>
        <a:xfrm>
          <a:off x="8325739" y="1921146"/>
          <a:ext cx="4625332" cy="1135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2300" b="1" i="0" kern="1200" dirty="0">
              <a:solidFill>
                <a:schemeClr val="tx2"/>
              </a:solidFill>
              <a:latin typeface="Arial"/>
              <a:ea typeface="+mn-ea"/>
              <a:cs typeface="Arial"/>
            </a:rPr>
            <a:t>Produits</a:t>
          </a:r>
          <a:r>
            <a:rPr lang="fr-FR" sz="2300" b="0" i="0" kern="1200" dirty="0">
              <a:solidFill>
                <a:schemeClr val="tx2"/>
              </a:solidFill>
            </a:rPr>
            <a:t> </a:t>
          </a:r>
          <a:r>
            <a:rPr lang="fr-FR" sz="2300" b="1" i="0" kern="1200" dirty="0">
              <a:solidFill>
                <a:schemeClr val="tx2"/>
              </a:solidFill>
              <a:latin typeface="Arial"/>
              <a:ea typeface="+mn-ea"/>
              <a:cs typeface="Arial"/>
            </a:rPr>
            <a:t>laitiers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endParaRPr lang="fr-FR" sz="2300" kern="1200" dirty="0"/>
        </a:p>
      </dsp:txBody>
      <dsp:txXfrm>
        <a:off x="8325739" y="1921146"/>
        <a:ext cx="4625332" cy="1135432"/>
      </dsp:txXfrm>
    </dsp:sp>
    <dsp:sp modelId="{AA000314-46E7-4391-9C6A-3E47AB6EBC56}">
      <dsp:nvSpPr>
        <dsp:cNvPr id="0" name=""/>
        <dsp:cNvSpPr/>
      </dsp:nvSpPr>
      <dsp:spPr>
        <a:xfrm>
          <a:off x="13475447" y="3008294"/>
          <a:ext cx="1172830" cy="117315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5E23FD-8C49-4BE2-BA0B-EAF3BC659C03}">
      <dsp:nvSpPr>
        <dsp:cNvPr id="0" name=""/>
        <dsp:cNvSpPr/>
      </dsp:nvSpPr>
      <dsp:spPr>
        <a:xfrm>
          <a:off x="7912270" y="3097614"/>
          <a:ext cx="6452702" cy="11354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fr-FR" sz="2400" b="1" i="0" kern="1200" dirty="0">
              <a:solidFill>
                <a:schemeClr val="tx2"/>
              </a:solidFill>
            </a:rPr>
            <a:t>Viandes bovines et ovines</a:t>
          </a:r>
          <a:endParaRPr lang="fr-FR" sz="2400" b="1" kern="1200" dirty="0">
            <a:solidFill>
              <a:schemeClr val="tx2"/>
            </a:solidFill>
          </a:endParaRPr>
        </a:p>
      </dsp:txBody>
      <dsp:txXfrm>
        <a:off x="7912270" y="3097614"/>
        <a:ext cx="6452702" cy="11354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fr-FR" altLang="en-US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en-US" dirty="0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15B0520-B4D1-4244-AAC5-6D62D4D00B50}" type="slidenum">
              <a:rPr lang="fr-FR" altLang="en-US"/>
              <a:pPr/>
              <a:t>‹N°›</a:t>
            </a:fld>
            <a:endParaRPr lang="fr-F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B0520-B4D1-4244-AAC5-6D62D4D00B50}" type="slidenum">
              <a:rPr lang="fr-FR" altLang="en-US" smtClean="0"/>
              <a:pPr/>
              <a:t>2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5654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12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5125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5126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7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8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29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0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1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2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3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4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135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13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13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3D4DD19-6C82-4A3A-B58D-3AD825B89F3B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 altLang="en-US" noProof="0"/>
              <a:t>Cliquez pour modifier le style du titre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fr-FR" altLang="en-US" noProof="0"/>
              <a:t>Cliquez pour modifier le style des sous-titres du masque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446D22-9D1C-497E-ABBC-B31A3A3D2A41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4172906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6E7DAA-A9D1-46D9-9A67-E5F5C221053A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70053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4846FBD-A218-445A-98EB-1D7B8DD8BF25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239712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5C58EE-ADE9-4D92-84BB-D3E57E96DB49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08300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56373CE-3869-4531-ADDC-50653C87186F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87608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432BAF0-7203-47AE-8A79-B46088EBEC6F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234591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CA223FE-4767-47E2-9694-1E8BF98E8018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517076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9803731-B376-464C-95F7-699F3E08F849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425881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8C980D-5EE2-42A2-84AD-46BB6C99C7D5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109740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5D09B7-098D-4429-B94C-FBE477C1780F}" type="slidenum">
              <a:rPr lang="fr-FR" altLang="en-US"/>
              <a:pPr/>
              <a:t>‹N°›</a:t>
            </a:fld>
            <a:endParaRPr lang="fr-FR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94508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endParaRPr lang="fr-FR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fld id="{5642FCEC-D793-4324-8F75-ACAE1711A2F6}" type="slidenum">
              <a:rPr lang="fr-FR" altLang="en-US"/>
              <a:pPr/>
              <a:t>‹N°›</a:t>
            </a:fld>
            <a:endParaRPr lang="fr-FR" altLang="en-US" dirty="0"/>
          </a:p>
        </p:txBody>
      </p:sp>
      <p:grpSp>
        <p:nvGrpSpPr>
          <p:cNvPr id="4100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410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10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10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hlink"/>
                </a:solidFill>
              </a:endParaRPr>
            </a:p>
          </p:txBody>
        </p:sp>
        <p:sp>
          <p:nvSpPr>
            <p:cNvPr id="410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hlink"/>
                </a:solidFill>
              </a:endParaRPr>
            </a:p>
          </p:txBody>
        </p:sp>
        <p:sp>
          <p:nvSpPr>
            <p:cNvPr id="410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10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hlink"/>
                </a:solidFill>
              </a:endParaRPr>
            </a:p>
          </p:txBody>
        </p:sp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10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10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411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</a:p>
        </p:txBody>
      </p:sp>
      <p:sp>
        <p:nvSpPr>
          <p:cNvPr id="411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fr-F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flaticon.com/free-icon/problem-solving_913246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25248" y="2057280"/>
            <a:ext cx="6074879" cy="1365481"/>
          </a:xfrm>
        </p:spPr>
        <p:txBody>
          <a:bodyPr/>
          <a:lstStyle/>
          <a:p>
            <a:pPr algn="ctr"/>
            <a:r>
              <a:rPr lang="fr-FR" altLang="en-US" sz="4400" b="1" dirty="0">
                <a:latin typeface="Arial Black"/>
              </a:rPr>
              <a:t>PRÉSENTATION DU STAGE DE FIN </a:t>
            </a:r>
            <a:r>
              <a:rPr lang="fr-FR" altLang="en-US" sz="4400" b="1">
                <a:latin typeface="Arial Black"/>
              </a:rPr>
              <a:t>D'ÉTUDES</a:t>
            </a:r>
            <a:endParaRPr lang="fr-FR" altLang="en-US" sz="4400" b="1" dirty="0">
              <a:latin typeface="Arial Black" panose="020B0A04020102020204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547812" y="302950"/>
            <a:ext cx="60483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en-US" sz="2400" b="1" dirty="0">
                <a:solidFill>
                  <a:srgbClr val="1060AA"/>
                </a:solidFill>
                <a:latin typeface="Bahnschrift Condensed" panose="020B0502040204020203" pitchFamily="34" charset="0"/>
              </a:rPr>
              <a:t>Ecole Supérieur de Technologie Essaouira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612775" y="4430713"/>
            <a:ext cx="16557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b="1" dirty="0">
                <a:solidFill>
                  <a:schemeClr val="bg2"/>
                </a:solidFill>
              </a:rPr>
              <a:t>Élaboré par: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4932363" y="4430713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b="1" dirty="0">
                <a:solidFill>
                  <a:schemeClr val="bg2"/>
                </a:solidFill>
              </a:rPr>
              <a:t>Encadré par: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700338" y="6381750"/>
            <a:ext cx="3743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altLang="en-US" b="1" dirty="0"/>
              <a:t>Année Universitaire 2025-2026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830234" y="4868863"/>
            <a:ext cx="33118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2400" dirty="0" err="1">
                <a:latin typeface="Arial"/>
                <a:cs typeface="Arial"/>
              </a:rPr>
              <a:t>Abahous</a:t>
            </a:r>
            <a:r>
              <a:rPr lang="fr-FR" sz="2400" dirty="0">
                <a:latin typeface="Arial"/>
                <a:cs typeface="Arial"/>
              </a:rPr>
              <a:t> </a:t>
            </a:r>
            <a:r>
              <a:rPr lang="fr-FR" sz="2400" dirty="0" err="1">
                <a:latin typeface="Arial"/>
                <a:cs typeface="Arial"/>
              </a:rPr>
              <a:t>Nor-eddine</a:t>
            </a:r>
            <a:endParaRPr lang="fr-FR" altLang="en-US" sz="2400" dirty="0" err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5362575" y="4868863"/>
            <a:ext cx="288131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400" dirty="0"/>
              <a:t>Mr.</a:t>
            </a:r>
            <a:r>
              <a:rPr lang="fr-FR" sz="2400" dirty="0"/>
              <a:t> Ait Ouakrim Abdessamad</a:t>
            </a:r>
            <a:endParaRPr lang="fr-FR" altLang="en-US" sz="2400" dirty="0">
              <a:solidFill>
                <a:srgbClr val="FF0000"/>
              </a:solidFill>
            </a:endParaRP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612775" y="5728691"/>
            <a:ext cx="539938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altLang="en-US" sz="2000" b="1" dirty="0">
                <a:solidFill>
                  <a:schemeClr val="bg2"/>
                </a:solidFill>
              </a:rPr>
              <a:t>Société d’accueil:</a:t>
            </a:r>
            <a:r>
              <a:rPr lang="fr-FR" altLang="en-US" sz="2000" b="1" dirty="0"/>
              <a:t> </a:t>
            </a:r>
            <a:r>
              <a:rPr lang="fr-FR" altLang="en-US" sz="2000" b="1" dirty="0">
                <a:solidFill>
                  <a:srgbClr val="FF0000"/>
                </a:solidFill>
              </a:rPr>
              <a:t>COPAG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218542" y="279394"/>
            <a:ext cx="10080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fr-FR" alt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4A4969-EF27-4C72-AFAC-493C978818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787" y="141128"/>
            <a:ext cx="1363794" cy="1273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10D1E2-1666-4E90-AD8B-29F42236FB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08" y="155353"/>
            <a:ext cx="1154162" cy="1154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29A87B-0E09-46A7-B55A-7883380771D3}"/>
              </a:ext>
            </a:extLst>
          </p:cNvPr>
          <p:cNvSpPr txBox="1"/>
          <p:nvPr/>
        </p:nvSpPr>
        <p:spPr>
          <a:xfrm>
            <a:off x="1223111" y="3651260"/>
            <a:ext cx="769404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400" b="1" dirty="0">
                <a:solidFill>
                  <a:srgbClr val="FFFF00"/>
                </a:solidFill>
                <a:latin typeface="Arial"/>
                <a:cs typeface="Arial"/>
              </a:rPr>
              <a:t>Développement D’un Assistant SQL pour </a:t>
            </a:r>
            <a:r>
              <a:rPr lang="fr-FR" sz="2400" b="1" dirty="0" err="1">
                <a:solidFill>
                  <a:srgbClr val="FFFF00"/>
                </a:solidFill>
                <a:latin typeface="Arial"/>
                <a:cs typeface="Arial"/>
              </a:rPr>
              <a:t>Copag</a:t>
            </a:r>
            <a:endParaRPr lang="fr-FR" sz="2400" b="1" dirty="0" err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2DB2-B5FD-46D1-BC5E-3C1BB3135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281" y="692696"/>
            <a:ext cx="1297437" cy="379512"/>
          </a:xfrm>
        </p:spPr>
        <p:txBody>
          <a:bodyPr/>
          <a:lstStyle/>
          <a:p>
            <a:r>
              <a:rPr lang="fr-FR" sz="3200" b="1" dirty="0">
                <a:solidFill>
                  <a:srgbClr val="1060AA"/>
                </a:solidFill>
                <a:latin typeface="Algerian" panose="04020705040A02060702" pitchFamily="82" charset="0"/>
              </a:rPr>
              <a:t>Plan</a:t>
            </a:r>
            <a:endParaRPr lang="fr-FR" sz="2800" b="1" dirty="0">
              <a:solidFill>
                <a:srgbClr val="1060AA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AF0A3-57E7-4781-827F-43005E3D7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923" y="1412776"/>
            <a:ext cx="8229600" cy="30506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1- Introduction et Contexte de stage</a:t>
            </a:r>
            <a:endParaRPr lang="fr-FR"/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2- </a:t>
            </a:r>
            <a:r>
              <a:rPr lang="fr-FR" b="1"/>
              <a:t>Conception et Outils3- Démarche et Réalisation(simulation)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b="1" dirty="0"/>
              <a:t>4- Conclusion et bilan de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06B7C-32FC-4905-A5F1-DA237E98E1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2</a:t>
            </a:fld>
            <a:endParaRPr lang="fr-FR" altLang="en-US" dirty="0"/>
          </a:p>
        </p:txBody>
      </p:sp>
    </p:spTree>
    <p:extLst>
      <p:ext uri="{BB962C8B-B14F-4D97-AF65-F5344CB8AC3E}">
        <p14:creationId xmlns:p14="http://schemas.microsoft.com/office/powerpoint/2010/main" val="389438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F5316-406A-4A4E-975D-51FADFB97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3</a:t>
            </a:fld>
            <a:endParaRPr lang="fr-F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08483-865E-676D-2475-7349DD4059AB}"/>
              </a:ext>
            </a:extLst>
          </p:cNvPr>
          <p:cNvSpPr txBox="1"/>
          <p:nvPr/>
        </p:nvSpPr>
        <p:spPr>
          <a:xfrm>
            <a:off x="2411760" y="3501008"/>
            <a:ext cx="5256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1060AA"/>
                </a:solidFill>
                <a:latin typeface="Algerian" panose="04020705040A02060702" pitchFamily="82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1F80A-702A-3174-8198-831DB820B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689" y="2204864"/>
            <a:ext cx="1358621" cy="135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8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F7117-FA49-4F60-9CC5-2663523220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4</a:t>
            </a:fld>
            <a:endParaRPr lang="fr-FR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AF5ACA-2BC9-9091-C660-5BBBE135D8E8}"/>
              </a:ext>
            </a:extLst>
          </p:cNvPr>
          <p:cNvGrpSpPr/>
          <p:nvPr/>
        </p:nvGrpSpPr>
        <p:grpSpPr>
          <a:xfrm>
            <a:off x="-3276872" y="1092181"/>
            <a:ext cx="14648278" cy="4600619"/>
            <a:chOff x="-4717032" y="1793574"/>
            <a:chExt cx="14648278" cy="40640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38C3354-A53A-C73D-8D02-B41FAC7B5DA5}"/>
                </a:ext>
              </a:extLst>
            </p:cNvPr>
            <p:cNvGrpSpPr/>
            <p:nvPr/>
          </p:nvGrpSpPr>
          <p:grpSpPr>
            <a:xfrm>
              <a:off x="-4717032" y="1793574"/>
              <a:ext cx="14648278" cy="4064000"/>
              <a:chOff x="-4717032" y="1793574"/>
              <a:chExt cx="14648278" cy="4064000"/>
            </a:xfrm>
          </p:grpSpPr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217937A8-9860-75ED-AC21-5E35C805DE8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529648"/>
                  </p:ext>
                </p:extLst>
              </p:nvPr>
            </p:nvGraphicFramePr>
            <p:xfrm>
              <a:off x="-4717032" y="1793574"/>
              <a:ext cx="14648278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AF8F487F-71DF-6885-FDDA-D20D33240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835696" y="3042865"/>
                <a:ext cx="2074832" cy="1198981"/>
              </a:xfrm>
              <a:prstGeom prst="rect">
                <a:avLst/>
              </a:prstGeom>
            </p:spPr>
          </p:pic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76685E6B-54CF-2005-85AA-8B1D04C517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536619" y="1957982"/>
                <a:ext cx="1338414" cy="974068"/>
              </a:xfrm>
              <a:prstGeom prst="rect">
                <a:avLst/>
              </a:prstGeom>
            </p:spPr>
          </p:pic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A1169AC1-9880-6A1A-4CBE-B70749F2AC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31640" y="4419116"/>
              <a:ext cx="1734105" cy="10710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448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DF0A-DF8E-16E9-4A54-3029B31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824" y="1491080"/>
            <a:ext cx="3545361" cy="543058"/>
          </a:xfrm>
        </p:spPr>
        <p:txBody>
          <a:bodyPr/>
          <a:lstStyle/>
          <a:p>
            <a:r>
              <a:rPr lang="en-US" sz="2800" b="1" dirty="0">
                <a:solidFill>
                  <a:srgbClr val="1060AA"/>
                </a:solidFill>
                <a:latin typeface="Algerian" panose="04020705040A02060702" pitchFamily="82" charset="0"/>
              </a:rPr>
              <a:t>P</a:t>
            </a:r>
            <a:r>
              <a:rPr lang="fr-FR" sz="2800" b="1" dirty="0">
                <a:solidFill>
                  <a:srgbClr val="1060AA"/>
                </a:solidFill>
                <a:latin typeface="Algerian" panose="04020705040A02060702" pitchFamily="82" charset="0"/>
              </a:rPr>
              <a:t>problématique: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502D4-3048-6A9E-65D8-01F1804ABC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5</a:t>
            </a:fld>
            <a:endParaRPr lang="fr-F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F3F0B-45B5-C172-6E02-8F2F69A2BEDC}"/>
              </a:ext>
            </a:extLst>
          </p:cNvPr>
          <p:cNvSpPr txBox="1"/>
          <p:nvPr/>
        </p:nvSpPr>
        <p:spPr>
          <a:xfrm>
            <a:off x="1476792" y="2191840"/>
            <a:ext cx="640871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>
                <a:solidFill>
                  <a:schemeClr val="tx2"/>
                </a:solidFill>
                <a:latin typeface="Arial"/>
                <a:cs typeface="Arial"/>
              </a:rPr>
              <a:t>Difficulté</a:t>
            </a:r>
            <a:r>
              <a:rPr lang="fr-FR" sz="2000" b="1" dirty="0">
                <a:solidFill>
                  <a:schemeClr val="tx2"/>
                </a:solidFill>
                <a:latin typeface="Arial"/>
                <a:cs typeface="Arial"/>
              </a:rPr>
              <a:t> de Manipulation et Consultation de la base de données local par SQL pour les employés</a:t>
            </a:r>
            <a:endParaRPr lang="fr-FR" sz="2000" b="1" dirty="0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F5EDF9-199F-F423-8C24-61245FE808BF}"/>
              </a:ext>
            </a:extLst>
          </p:cNvPr>
          <p:cNvSpPr txBox="1">
            <a:spLocks/>
          </p:cNvSpPr>
          <p:nvPr/>
        </p:nvSpPr>
        <p:spPr bwMode="auto">
          <a:xfrm>
            <a:off x="3779912" y="3562679"/>
            <a:ext cx="324036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fr-FR" sz="2800" b="1" dirty="0">
                <a:solidFill>
                  <a:srgbClr val="1060AA"/>
                </a:solidFill>
                <a:latin typeface="Algerian" panose="04020705040A02060702" pitchFamily="82" charset="0"/>
              </a:rPr>
              <a:t>Solution: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DB391-7AA0-6D91-41B4-A0E3CADBDA52}"/>
              </a:ext>
            </a:extLst>
          </p:cNvPr>
          <p:cNvSpPr txBox="1"/>
          <p:nvPr/>
        </p:nvSpPr>
        <p:spPr>
          <a:xfrm>
            <a:off x="1666408" y="4213920"/>
            <a:ext cx="640871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 b="1" dirty="0">
                <a:solidFill>
                  <a:schemeClr val="tx2"/>
                </a:solidFill>
                <a:latin typeface="Arial"/>
                <a:cs typeface="Arial"/>
              </a:rPr>
              <a:t>Construire Un Assistant intelligent pour la génération des </a:t>
            </a:r>
            <a:r>
              <a:rPr lang="fr-FR" sz="2000" b="1" dirty="0" err="1">
                <a:solidFill>
                  <a:schemeClr val="tx2"/>
                </a:solidFill>
                <a:latin typeface="Arial"/>
                <a:cs typeface="Arial"/>
              </a:rPr>
              <a:t>Requete</a:t>
            </a:r>
            <a:r>
              <a:rPr lang="fr-FR" sz="2000" b="1" dirty="0">
                <a:solidFill>
                  <a:schemeClr val="tx2"/>
                </a:solidFill>
                <a:latin typeface="Arial"/>
                <a:cs typeface="Arial"/>
              </a:rPr>
              <a:t> SQL , lié directement à la base de données</a:t>
            </a:r>
            <a:endParaRPr lang="fr-FR" sz="2000" b="1" dirty="0" err="1">
              <a:solidFill>
                <a:schemeClr val="tx2"/>
              </a:solidFill>
            </a:endParaRPr>
          </a:p>
        </p:txBody>
      </p:sp>
      <p:pic>
        <p:nvPicPr>
          <p:cNvPr id="1026" name="Picture 2" descr="Problem solving">
            <a:hlinkClick r:id="rId2" tooltip="Problem solving"/>
            <a:extLst>
              <a:ext uri="{FF2B5EF4-FFF2-40B4-BE49-F238E27FC236}">
                <a16:creationId xmlns:a16="http://schemas.microsoft.com/office/drawing/2014/main" id="{7E61A703-4A73-AC9B-AE11-CD77B78BC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740" y="1477814"/>
            <a:ext cx="609600" cy="56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itiative ">
            <a:extLst>
              <a:ext uri="{FF2B5EF4-FFF2-40B4-BE49-F238E27FC236}">
                <a16:creationId xmlns:a16="http://schemas.microsoft.com/office/drawing/2014/main" id="{C6026DF6-0036-6C8C-C54F-F4F9889E8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312" y="3486533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222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5CA01-E689-6667-8078-33A27AB2CB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6</a:t>
            </a:fld>
            <a:endParaRPr lang="fr-F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38B355-E74A-1D1C-B564-47AD2CA69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946" y="2708920"/>
            <a:ext cx="6906108" cy="1440160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>
                <a:solidFill>
                  <a:srgbClr val="1060AA"/>
                </a:solidFill>
                <a:latin typeface="Algerian"/>
              </a:rPr>
              <a:t>Conception</a:t>
            </a:r>
            <a:endParaRPr lang="fr-FR" sz="4400" b="1" dirty="0">
              <a:solidFill>
                <a:srgbClr val="1060AA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fr-FR" sz="4400" b="1" dirty="0">
                <a:solidFill>
                  <a:srgbClr val="1060AA"/>
                </a:solidFill>
                <a:latin typeface="Algerian" panose="04020705040A02060702" pitchFamily="82" charset="0"/>
              </a:rPr>
              <a:t> et Outils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46937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78974-8C14-AB92-8538-4D37F024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C9FC4-69EE-08AA-C86E-D00DD856CD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7</a:t>
            </a:fld>
            <a:endParaRPr lang="fr-F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535D2-FC00-3E87-67A4-DFA1E36D85F1}"/>
              </a:ext>
            </a:extLst>
          </p:cNvPr>
          <p:cNvSpPr>
            <a:spLocks noGrp="1"/>
          </p:cNvSpPr>
          <p:nvPr/>
        </p:nvSpPr>
        <p:spPr bwMode="auto">
          <a:xfrm>
            <a:off x="1653817" y="2704519"/>
            <a:ext cx="9574884" cy="1930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sz="4800" dirty="0">
                <a:solidFill>
                  <a:srgbClr val="1060AA"/>
                </a:solidFill>
                <a:latin typeface="Algerian"/>
              </a:rPr>
              <a:t>Snow-flake Shema</a:t>
            </a:r>
            <a:endParaRPr lang="fr-FR" sz="4800" dirty="0">
              <a:solidFill>
                <a:srgbClr val="1060AA"/>
              </a:solidFill>
              <a:latin typeface="Algerian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A3E98D0B-459B-94E8-DC84-077261D0BF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0" y="2305631"/>
            <a:ext cx="786742" cy="7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17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A6EAE-D88B-EE16-0BED-1678E6E39D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8</a:t>
            </a:fld>
            <a:endParaRPr lang="fr-FR" altLang="en-US" dirty="0"/>
          </a:p>
        </p:txBody>
      </p:sp>
      <p:pic>
        <p:nvPicPr>
          <p:cNvPr id="3" name="Image 2" descr="Une image contenant texte, capture d’écran, nombre, diagramme&#10;&#10;Le contenu généré par l’IA peut être incorrect.">
            <a:extLst>
              <a:ext uri="{FF2B5EF4-FFF2-40B4-BE49-F238E27FC236}">
                <a16:creationId xmlns:a16="http://schemas.microsoft.com/office/drawing/2014/main" id="{BCB67199-8ADF-B691-92F0-D3244FB37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079"/>
            <a:ext cx="9144000" cy="628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3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81097-9E55-8828-4C66-827DAB6E2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E7FC9-F2D1-B9B6-6020-B2119177E8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9</a:t>
            </a:fld>
            <a:endParaRPr lang="fr-F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686F4-5227-E6BA-BB0A-EE4C2820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006" y="3433243"/>
            <a:ext cx="9325320" cy="533400"/>
          </a:xfrm>
        </p:spPr>
        <p:txBody>
          <a:bodyPr/>
          <a:lstStyle/>
          <a:p>
            <a:r>
              <a:rPr lang="en-US" sz="4800" dirty="0" err="1">
                <a:solidFill>
                  <a:srgbClr val="1060AA"/>
                </a:solidFill>
                <a:latin typeface="Algerian"/>
              </a:rPr>
              <a:t>DIAgrame</a:t>
            </a:r>
            <a:r>
              <a:rPr lang="en-US" sz="4800" dirty="0">
                <a:solidFill>
                  <a:srgbClr val="1060AA"/>
                </a:solidFill>
                <a:latin typeface="Algerian"/>
              </a:rPr>
              <a:t> de </a:t>
            </a:r>
            <a:r>
              <a:rPr lang="en-US" sz="4800" dirty="0" err="1">
                <a:solidFill>
                  <a:srgbClr val="1060AA"/>
                </a:solidFill>
                <a:latin typeface="Algerian"/>
              </a:rPr>
              <a:t>séquence</a:t>
            </a:r>
            <a:r>
              <a:rPr lang="en-US" sz="4800" dirty="0">
                <a:solidFill>
                  <a:srgbClr val="1060AA"/>
                </a:solidFill>
                <a:latin typeface="Algerian"/>
              </a:rPr>
              <a:t> </a:t>
            </a:r>
            <a:endParaRPr lang="en-US" sz="4800">
              <a:solidFill>
                <a:srgbClr val="1060AA"/>
              </a:solidFill>
              <a:latin typeface="Algerian" panose="04020705040A02060702" pitchFamily="82" charset="0"/>
            </a:endParaRPr>
          </a:p>
        </p:txBody>
      </p:sp>
      <p:pic>
        <p:nvPicPr>
          <p:cNvPr id="7" name="Image 6" descr="Une image contenant symbol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BB1029B-FE57-E70A-4170-829884EB1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050" y="2150570"/>
            <a:ext cx="829882" cy="86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0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8AB1-A143-2AF8-0631-7CAF8747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04465-F8FA-17D7-8B50-E97E941291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10</a:t>
            </a:fld>
            <a:endParaRPr lang="fr-FR" altLang="en-US" dirty="0"/>
          </a:p>
        </p:txBody>
      </p:sp>
      <p:pic>
        <p:nvPicPr>
          <p:cNvPr id="6" name="Image 5" descr="Une image contenant texte, capture d’écran, diagramme, nombre&#10;&#10;Le contenu généré par l’IA peut être incorrect.">
            <a:extLst>
              <a:ext uri="{FF2B5EF4-FFF2-40B4-BE49-F238E27FC236}">
                <a16:creationId xmlns:a16="http://schemas.microsoft.com/office/drawing/2014/main" id="{DFF81805-9E5F-DA56-0411-4A18F886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25" r="-601" b="10917"/>
          <a:stretch>
            <a:fillRect/>
          </a:stretch>
        </p:blipFill>
        <p:spPr>
          <a:xfrm>
            <a:off x="2914" y="506790"/>
            <a:ext cx="9137211" cy="635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74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B4FE-CBFC-C541-5882-F25DB685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79" y="620688"/>
            <a:ext cx="3744416" cy="667544"/>
          </a:xfrm>
        </p:spPr>
        <p:txBody>
          <a:bodyPr/>
          <a:lstStyle/>
          <a:p>
            <a:r>
              <a:rPr lang="fr-FR" sz="3600" dirty="0">
                <a:solidFill>
                  <a:srgbClr val="1060AA"/>
                </a:solidFill>
                <a:latin typeface="Algerian" panose="04020705040A02060702" pitchFamily="82" charset="0"/>
              </a:rPr>
              <a:t>Outils utilisés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91DD-A135-793D-5DDE-A102EDFA8A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11</a:t>
            </a:fld>
            <a:endParaRPr lang="fr-F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984C31-2AC2-72F4-173F-6F40EFC13B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0957" y="1412773"/>
            <a:ext cx="1952626" cy="1298561"/>
          </a:xfrm>
          <a:prstGeom prst="rect">
            <a:avLst/>
          </a:prstGeom>
        </p:spPr>
      </p:pic>
      <p:pic>
        <p:nvPicPr>
          <p:cNvPr id="1026" name="Picture 2" descr="Visual Studio logo and symbol, meaning, history, PNG">
            <a:extLst>
              <a:ext uri="{FF2B5EF4-FFF2-40B4-BE49-F238E27FC236}">
                <a16:creationId xmlns:a16="http://schemas.microsoft.com/office/drawing/2014/main" id="{03DC30BB-DC28-E576-AE31-1933E4F1F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53" y="1412774"/>
            <a:ext cx="1952625" cy="129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go SSIS">
            <a:extLst>
              <a:ext uri="{FF2B5EF4-FFF2-40B4-BE49-F238E27FC236}">
                <a16:creationId xmlns:a16="http://schemas.microsoft.com/office/drawing/2014/main" id="{7575C167-61C9-2A3D-BDB2-DA22E75BB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456" y="1408268"/>
            <a:ext cx="1952625" cy="129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QL connector">
            <a:extLst>
              <a:ext uri="{FF2B5EF4-FFF2-40B4-BE49-F238E27FC236}">
                <a16:creationId xmlns:a16="http://schemas.microsoft.com/office/drawing/2014/main" id="{16075819-D12C-8DD7-3D3E-DBB34035C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556" y="3388154"/>
            <a:ext cx="2003312" cy="129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Police, logo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4ED7E513-C285-6E76-2B3A-249F8654DD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64" y="3188753"/>
            <a:ext cx="2557524" cy="1688379"/>
          </a:xfrm>
          <a:prstGeom prst="rect">
            <a:avLst/>
          </a:prstGeom>
        </p:spPr>
      </p:pic>
      <p:pic>
        <p:nvPicPr>
          <p:cNvPr id="5" name="Image 4" descr="Une image contenant clipart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82D4E449-4235-583C-BF09-A635DF60D2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4848" y="3166023"/>
            <a:ext cx="2053283" cy="1953458"/>
          </a:xfrm>
          <a:prstGeom prst="rect">
            <a:avLst/>
          </a:prstGeom>
        </p:spPr>
      </p:pic>
      <p:pic>
        <p:nvPicPr>
          <p:cNvPr id="11" name="Image 10" descr="Une image contenant Caractère coloré, cercle, Graphique, créativité&#10;&#10;Le contenu généré par l’IA peut être incorrect.">
            <a:extLst>
              <a:ext uri="{FF2B5EF4-FFF2-40B4-BE49-F238E27FC236}">
                <a16:creationId xmlns:a16="http://schemas.microsoft.com/office/drawing/2014/main" id="{1BCEC3CF-A3CF-F4BB-8184-1450964DD5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760" y="4730057"/>
            <a:ext cx="1989851" cy="1979868"/>
          </a:xfrm>
          <a:prstGeom prst="rect">
            <a:avLst/>
          </a:prstGeom>
        </p:spPr>
      </p:pic>
      <p:pic>
        <p:nvPicPr>
          <p:cNvPr id="7" name="Image 6" descr="Une image contenant Polic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C12087C9-2E06-5AAF-F956-63AE554EBA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073" y="623242"/>
            <a:ext cx="550370" cy="56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5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D556E-07C3-2119-EBB0-CE0575A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B95FB-0136-613F-E950-ECE965A922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12</a:t>
            </a:fld>
            <a:endParaRPr lang="fr-FR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47CA2-0600-5F0A-166E-3F6591E1A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946" y="2492896"/>
            <a:ext cx="6906108" cy="1872208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 dirty="0">
                <a:solidFill>
                  <a:srgbClr val="1060AA"/>
                </a:solidFill>
                <a:latin typeface="Algerian" panose="04020705040A02060702" pitchFamily="82" charset="0"/>
              </a:rPr>
              <a:t>Démarche </a:t>
            </a:r>
          </a:p>
          <a:p>
            <a:pPr marL="0" indent="0" algn="ctr">
              <a:buNone/>
            </a:pPr>
            <a:r>
              <a:rPr lang="fr-FR" sz="4400" b="1" dirty="0">
                <a:solidFill>
                  <a:srgbClr val="1060AA"/>
                </a:solidFill>
                <a:latin typeface="Algerian" panose="04020705040A02060702" pitchFamily="82" charset="0"/>
              </a:rPr>
              <a:t>et </a:t>
            </a:r>
          </a:p>
          <a:p>
            <a:pPr marL="0" indent="0" algn="ctr">
              <a:buNone/>
            </a:pPr>
            <a:r>
              <a:rPr lang="fr-FR" sz="4400" b="1" dirty="0">
                <a:solidFill>
                  <a:srgbClr val="1060AA"/>
                </a:solidFill>
                <a:latin typeface="Algerian" panose="04020705040A02060702" pitchFamily="82" charset="0"/>
              </a:rPr>
              <a:t>réalisation</a:t>
            </a:r>
          </a:p>
          <a:p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10316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7BFF3-3708-9696-D801-3A1964F18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89827" cy="442823"/>
          </a:xfrm>
        </p:spPr>
        <p:txBody>
          <a:bodyPr/>
          <a:lstStyle/>
          <a:p>
            <a:r>
              <a:rPr lang="fr-FR" altLang="en-US">
                <a:latin typeface="Arial Black"/>
                <a:cs typeface="Arial"/>
              </a:rPr>
              <a:t>10</a:t>
            </a:r>
            <a:endParaRPr lang="fr-FR" altLang="en-US" dirty="0"/>
          </a:p>
        </p:txBody>
      </p:sp>
      <p:pic>
        <p:nvPicPr>
          <p:cNvPr id="2" name="Image 1" descr="Une image contenant texte, capture d’écran, diagramme, carte&#10;&#10;Le contenu généré par l’IA peut être incorrect.">
            <a:extLst>
              <a:ext uri="{FF2B5EF4-FFF2-40B4-BE49-F238E27FC236}">
                <a16:creationId xmlns:a16="http://schemas.microsoft.com/office/drawing/2014/main" id="{78A316FE-C797-DEB4-EB12-381064083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650"/>
            <a:ext cx="9144000" cy="5700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C60A33-F96B-C007-F50C-68153201D259}"/>
              </a:ext>
            </a:extLst>
          </p:cNvPr>
          <p:cNvSpPr txBox="1"/>
          <p:nvPr/>
        </p:nvSpPr>
        <p:spPr>
          <a:xfrm>
            <a:off x="827584" y="704302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1060AA"/>
                </a:solidFill>
                <a:latin typeface="Algerian" panose="04020705040A02060702" pitchFamily="82" charset="0"/>
              </a:rPr>
              <a:t>Parcourt des données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80348-8125-6E78-58D7-4A0358F465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76672"/>
            <a:ext cx="916927" cy="91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619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306DC-36D2-DB8A-9125-CC3E8CD4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744" y="1268760"/>
            <a:ext cx="4608510" cy="1224136"/>
          </a:xfrm>
        </p:spPr>
        <p:txBody>
          <a:bodyPr/>
          <a:lstStyle/>
          <a:p>
            <a:pPr algn="ctr"/>
            <a:r>
              <a:rPr lang="fr-FR" sz="4000" b="1" dirty="0">
                <a:solidFill>
                  <a:srgbClr val="1060AA"/>
                </a:solidFill>
                <a:latin typeface="Algerian" panose="04020705040A02060702" pitchFamily="82" charset="0"/>
              </a:rPr>
              <a:t>Simulation du</a:t>
            </a:r>
            <a:br>
              <a:rPr lang="fr-FR" sz="4000" b="1" dirty="0">
                <a:solidFill>
                  <a:srgbClr val="1060AA"/>
                </a:solidFill>
                <a:latin typeface="Algerian" panose="04020705040A02060702" pitchFamily="82" charset="0"/>
              </a:rPr>
            </a:br>
            <a:r>
              <a:rPr lang="fr-FR" sz="4000" b="1" dirty="0">
                <a:solidFill>
                  <a:srgbClr val="1060AA"/>
                </a:solidFill>
                <a:latin typeface="Algerian" panose="04020705040A02060702" pitchFamily="82" charset="0"/>
              </a:rPr>
              <a:t> projet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5838-3E6C-1409-AEFA-132B61A416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14</a:t>
            </a:fld>
            <a:endParaRPr lang="fr-FR" altLang="en-US" dirty="0"/>
          </a:p>
        </p:txBody>
      </p:sp>
      <p:pic>
        <p:nvPicPr>
          <p:cNvPr id="1030" name="Picture 6" descr="Cube ">
            <a:extLst>
              <a:ext uri="{FF2B5EF4-FFF2-40B4-BE49-F238E27FC236}">
                <a16:creationId xmlns:a16="http://schemas.microsoft.com/office/drawing/2014/main" id="{69ED4BE8-9656-9510-35F2-559E9D770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19" y="2780928"/>
            <a:ext cx="1440160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3EB231-3954-8DC0-390D-824362E03C2A}"/>
              </a:ext>
            </a:extLst>
          </p:cNvPr>
          <p:cNvSpPr txBox="1"/>
          <p:nvPr/>
        </p:nvSpPr>
        <p:spPr>
          <a:xfrm>
            <a:off x="1619672" y="4758243"/>
            <a:ext cx="6840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/>
              <a:t>Bien comprendre le projet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b="1" dirty="0"/>
              <a:t>Savoir le rôle précis de chaque utile utilisé </a:t>
            </a:r>
          </a:p>
        </p:txBody>
      </p:sp>
    </p:spTree>
    <p:extLst>
      <p:ext uri="{BB962C8B-B14F-4D97-AF65-F5344CB8AC3E}">
        <p14:creationId xmlns:p14="http://schemas.microsoft.com/office/powerpoint/2010/main" val="2697146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974F3-AE95-D71B-F674-81A96B7E6C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446D22-9D1C-497E-ABBC-B31A3A3D2A41}" type="slidenum">
              <a:rPr lang="fr-FR" altLang="en-US" smtClean="0"/>
              <a:pPr/>
              <a:t>15</a:t>
            </a:fld>
            <a:endParaRPr lang="fr-F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1A3F13-86A9-9CEE-35FC-72C1A216A89B}"/>
              </a:ext>
            </a:extLst>
          </p:cNvPr>
          <p:cNvSpPr txBox="1"/>
          <p:nvPr/>
        </p:nvSpPr>
        <p:spPr>
          <a:xfrm>
            <a:off x="3286433" y="4077072"/>
            <a:ext cx="2939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1060AA"/>
                </a:solidFill>
                <a:latin typeface="Algerian" panose="04020705040A02060702" pitchFamily="82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91EFE-8811-A662-865B-9E3A123EF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1772816"/>
            <a:ext cx="2181393" cy="218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5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2650</TotalTime>
  <Words>148</Words>
  <Application>Microsoft Office PowerPoint</Application>
  <PresentationFormat>Affichage à l'écran (4:3)</PresentationFormat>
  <Paragraphs>47</Paragraphs>
  <Slides>15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Pixel</vt:lpstr>
      <vt:lpstr>PRÉSENTATION DU STAGE DE FIN D'ÉTUDES</vt:lpstr>
      <vt:lpstr>Plan</vt:lpstr>
      <vt:lpstr>Présentation PowerPoint</vt:lpstr>
      <vt:lpstr>Présentation PowerPoint</vt:lpstr>
      <vt:lpstr>Pproblématique:</vt:lpstr>
      <vt:lpstr>Présentation PowerPoint</vt:lpstr>
      <vt:lpstr>Présentation PowerPoint</vt:lpstr>
      <vt:lpstr>Présentation PowerPoint</vt:lpstr>
      <vt:lpstr>DIAgrame de séquence </vt:lpstr>
      <vt:lpstr>Présentation PowerPoint</vt:lpstr>
      <vt:lpstr>Outils utilisés</vt:lpstr>
      <vt:lpstr>Présentation PowerPoint</vt:lpstr>
      <vt:lpstr>Présentation PowerPoint</vt:lpstr>
      <vt:lpstr>Simulation du  projet</vt:lpstr>
      <vt:lpstr>Présentation PowerPoint</vt:lpstr>
    </vt:vector>
  </TitlesOfParts>
  <Company>ENSI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présentation</dc:title>
  <dc:creator>HALIM Bahae Eddine</dc:creator>
  <cp:lastModifiedBy>ABAHOUS NOR-EDDINE</cp:lastModifiedBy>
  <cp:revision>300</cp:revision>
  <dcterms:created xsi:type="dcterms:W3CDTF">2000-01-01T00:26:12Z</dcterms:created>
  <dcterms:modified xsi:type="dcterms:W3CDTF">2026-05-17T08:48:13Z</dcterms:modified>
</cp:coreProperties>
</file>